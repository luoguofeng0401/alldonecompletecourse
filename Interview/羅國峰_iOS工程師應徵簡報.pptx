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開場：您好，我是羅國峰，應徵 iOS Developer 職位。今天用大約十分鐘介紹我的背景、技術能力，以及獨立完成的 iOS App 專案 TodoList。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我是電機所博士，研究訓練讓我習慣先釐清問題再動手。近期把重心放在 iOS 開發，並以一個完整的 App 專案驗證所學。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學歷方面碩博士都在高科大電機所完成，期間拿到書卷獎與斐陶斐榮譽會員。業界經驗是在 AlphaInfo 擔任 R&amp;D 助理工程師。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技術能力以 SwiftUI 與 MVVM 為核心，向外延伸到 API 串接、非同步處理、版本控制與上架流程；另外也具備 CoreML 模型整合的經驗。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TodoList 是我獨立完成的一支任務管理 App，用 SwiftUI 撰寫，支援 iOS 18.6 以上。接下來用三個畫面說明主要流程。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驗證流程包含註冊、登入與錯誤處理。重點是把失敗狀態也做完整——輸入錯誤時明確告訴使用者原因。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主畫面同時處理分類、搜尋與新增。我特別花時間處理空狀態，因為那是使用者第一次打開 App 會看到的畫面。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設定頁把 App 資訊、使用者資訊與登出集中管理，登出前加上確認對話框做保護。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架構上採 MVVM，View 只管呈現、ViewModel 管狀態、Service 管資料。搭配 async/await 處理非同步，並把錯誤與空狀態都做完整。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總結三個重點：研究訓練帶來的解題能力、完整走過一支 App 的生命週期、把細節做完整的習慣。謝謝聆聽。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oguofeng0401" TargetMode="External"/><Relationship Id="rId3" Type="http://schemas.openxmlformats.org/officeDocument/2006/relationships/hyperlink" Target="https://medium.com/@luoguofeng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luoguofeng0401" TargetMode="External"/><Relationship Id="rId2" Type="http://schemas.openxmlformats.org/officeDocument/2006/relationships/hyperlink" Target="https://medium.com/@luoguofen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-822960"/>
            <a:ext cx="5120640" cy="5120640"/>
          </a:xfrm>
          <a:prstGeom prst="ellipse">
            <a:avLst/>
          </a:prstGeom>
          <a:solidFill>
            <a:srgbClr val="2AA7AA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377440"/>
            <a:ext cx="4023360" cy="4023360"/>
          </a:xfrm>
          <a:prstGeom prst="ellipse">
            <a:avLst/>
          </a:prstGeom>
          <a:solidFill>
            <a:srgbClr val="4FD1C5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root/deck/img/Task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566928"/>
            <a:ext cx="2811066" cy="5715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57276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・ 應徵簡報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86384" y="1993392"/>
            <a:ext cx="7315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羅 國 峰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72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100" kern="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Guofeng Luo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75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 ・ MVVM ・ RESTful API 串接 ・ Git 版本控制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148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國立高雄科技大學 電機工程研究所 博士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41248" y="5129784"/>
            <a:ext cx="100584" cy="100584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15568" y="5029200"/>
            <a:ext cx="75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5029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0986-513-967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5605272"/>
            <a:ext cx="100584" cy="100584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15568" y="5504688"/>
            <a:ext cx="75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5504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luoguofeng0401@gmail.com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6080760"/>
            <a:ext cx="100584" cy="100584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5568" y="5980176"/>
            <a:ext cx="75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居住地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874520" y="59801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台南市楠西區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46320" y="5129784"/>
            <a:ext cx="100584" cy="100584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20640" y="5029200"/>
            <a:ext cx="75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21" name="Text 18">
            <a:hlinkClick r:id="rId2" tooltip=""/>
          </p:cNvPr>
          <p:cNvSpPr txBox="1"/>
          <p:nvPr/>
        </p:nvSpPr>
        <p:spPr>
          <a:xfrm>
            <a:off x="5879592" y="5029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github.com/luoguofeng0401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46320" y="5605272"/>
            <a:ext cx="100584" cy="100584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20640" y="5504688"/>
            <a:ext cx="75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24" name="Text 21">
            <a:hlinkClick r:id="rId3" tooltip=""/>
          </p:cNvPr>
          <p:cNvSpPr txBox="1"/>
          <p:nvPr/>
        </p:nvSpPr>
        <p:spPr>
          <a:xfrm>
            <a:off x="5879592" y="55046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medium.com/@luoguofeng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關於我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83080"/>
            <a:ext cx="5577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國立高雄科技大學電機工程研究所博士，具備完整的研究與工程訓練，習慣把問題拆解、驗證後再落實成產品。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目前專注於 iOS App 開發，熟悉 SwiftUI 宣告式介面與 MVVM 架構，並獨立完成任務管理 App「TodoList」的設計與實作，涵蓋帳號驗證、資料串接、狀態管理到上架流程。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4315968"/>
            <a:ext cx="5577840" cy="1572768"/>
          </a:xfrm>
          <a:prstGeom prst="roundRect">
            <a:avLst>
              <a:gd name="adj" fmla="val 6977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535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希望職稱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8097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2852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可上班日：錄取後隨時可上班　｜　對遠端工作有意願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56832" y="1783080"/>
            <a:ext cx="4873752" cy="1225296"/>
          </a:xfrm>
          <a:prstGeom prst="roundRect">
            <a:avLst>
              <a:gd name="adj" fmla="val 8955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67728" y="2331720"/>
            <a:ext cx="128016" cy="128016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78624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博士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19842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國立高雄科技大學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電機工程研究所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56832" y="3200400"/>
            <a:ext cx="4873752" cy="1225296"/>
          </a:xfrm>
          <a:prstGeom prst="roundRect">
            <a:avLst>
              <a:gd name="adj" fmla="val 8955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67728" y="3749040"/>
            <a:ext cx="128016" cy="128016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78624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4.0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34015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書卷獎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學業成績全班第一名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56832" y="4617720"/>
            <a:ext cx="4873752" cy="1225296"/>
          </a:xfrm>
          <a:prstGeom prst="roundRect">
            <a:avLst>
              <a:gd name="adj" fmla="val 8955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67728" y="5166360"/>
            <a:ext cx="128016" cy="128016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78624" y="4800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項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48188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相關技術專長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涵蓋開發到上架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學經歷與榮譽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・ EXPERIENCE ・ HONORS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0392" y="2057400"/>
            <a:ext cx="0" cy="3063240"/>
          </a:xfrm>
          <a:prstGeom prst="line">
            <a:avLst/>
          </a:prstGeom>
          <a:noFill/>
          <a:ln w="15875">
            <a:solidFill>
              <a:srgbClr val="2A3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" y="2002536"/>
            <a:ext cx="155448" cy="155448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2019/09 – 2025/11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854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國立高雄科技大學　電機工程研究所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5511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博士畢業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2668" y="3465576"/>
            <a:ext cx="155448" cy="155448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07008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2018/07 – 2018/12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6484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AlphaInfo Inc.（電腦軟體服務業）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0142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助理工程師　｜　新竹市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2668" y="4928616"/>
            <a:ext cx="155448" cy="155448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4800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2017/09 – 2019/06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511149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國立高雄科技大學　電機工程研究所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54772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碩士畢業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5029200" cy="1298448"/>
          </a:xfrm>
          <a:prstGeom prst="roundRect">
            <a:avLst>
              <a:gd name="adj" fmla="val 8451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03136" y="19842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書卷獎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235000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國立高雄科技大學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學業成績優異，獲得全班第一名（GPA 4.0）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3273552"/>
            <a:ext cx="5029200" cy="1298448"/>
          </a:xfrm>
          <a:prstGeom prst="roundRect">
            <a:avLst>
              <a:gd name="adj" fmla="val 8451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03136" y="3474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斐陶斐榮譽會員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803136" y="384048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中華民國斐陶斐榮譽學會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表彰學術表現與研究成果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4764024"/>
            <a:ext cx="5029200" cy="1298448"/>
          </a:xfrm>
          <a:prstGeom prst="roundRect">
            <a:avLst>
              <a:gd name="adj" fmla="val 8451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03136" y="49651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語言能力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803136" y="533095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英文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聽 / 說 / 讀 / 寫　中等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技術能力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SKILLS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512771" cy="1920240"/>
          </a:xfrm>
          <a:prstGeom prst="roundRect">
            <a:avLst>
              <a:gd name="adj" fmla="val 571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20824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32888"/>
            <a:ext cx="20555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63240"/>
            <a:ext cx="20738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宣告式 UI 開發，實作深色模式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介面與自訂元件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5459" y="1783080"/>
            <a:ext cx="2512771" cy="1920240"/>
          </a:xfrm>
          <a:prstGeom prst="roundRect">
            <a:avLst>
              <a:gd name="adj" fmla="val 571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3203" y="2020824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83203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83203" y="2532888"/>
            <a:ext cx="20555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 設計模式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83203" y="3063240"/>
            <a:ext cx="20738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畫面與商業邏輯分離，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提升可測試性與維護性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2550" y="1783080"/>
            <a:ext cx="2512771" cy="1920240"/>
          </a:xfrm>
          <a:prstGeom prst="roundRect">
            <a:avLst>
              <a:gd name="adj" fmla="val 571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0294" y="2020824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0294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70294" y="2532888"/>
            <a:ext cx="20555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串接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70294" y="3063240"/>
            <a:ext cx="20738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與後端服務整合，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處理請求、回應與錯誤狀態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19642" y="1783080"/>
            <a:ext cx="2512771" cy="1920240"/>
          </a:xfrm>
          <a:prstGeom prst="roundRect">
            <a:avLst>
              <a:gd name="adj" fmla="val 571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57386" y="2020824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57386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257386" y="2532888"/>
            <a:ext cx="20555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 ・ Combine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57386" y="3063240"/>
            <a:ext cx="20738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非同步流程與資料流處理，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避免阻塞主執行緒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4014216"/>
            <a:ext cx="2512771" cy="1920240"/>
          </a:xfrm>
          <a:prstGeom prst="roundRect">
            <a:avLst>
              <a:gd name="adj" fmla="val 571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251960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4764024"/>
            <a:ext cx="20555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版本控制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5294376"/>
            <a:ext cx="20738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分支管理與 GitHub 協作，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維持可追溯的開發歷程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45459" y="4014216"/>
            <a:ext cx="2512771" cy="1920240"/>
          </a:xfrm>
          <a:prstGeom prst="roundRect">
            <a:avLst>
              <a:gd name="adj" fmla="val 571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3203" y="4251960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83203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683203" y="4764024"/>
            <a:ext cx="20555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上架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683203" y="5294376"/>
            <a:ext cx="20738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熟悉打包、送審與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版本發布流程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2550" y="4014216"/>
            <a:ext cx="2512771" cy="1920240"/>
          </a:xfrm>
          <a:prstGeom prst="roundRect">
            <a:avLst>
              <a:gd name="adj" fmla="val 571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0294" y="4251960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70294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70294" y="4764024"/>
            <a:ext cx="20555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CoreML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70294" y="5294376"/>
            <a:ext cx="20738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App 內整合機器學習模型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進行本地端推論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19642" y="4014216"/>
            <a:ext cx="2512771" cy="1920240"/>
          </a:xfrm>
          <a:prstGeom prst="roundRect">
            <a:avLst>
              <a:gd name="adj" fmla="val 571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57386" y="4251960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57386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257386" y="4764024"/>
            <a:ext cx="20555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App 開發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257386" y="5294376"/>
            <a:ext cx="20738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從介面設計、資料流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到功能實作的完整經驗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專案實作：TodoList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獨立開發的 iOS 任務管理 App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「協助使用者掌握每天的待辦事項，把生活整理好。」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883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127248" y="22860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64992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相容性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26883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18.6+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596128" y="22860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33872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33872" y="26883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獨立開發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456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8404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帳號註冊、登入與登出，含錯誤提示流程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四大分類（Groceries / Home / Personal / Work）快速切換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任務清單新增、勾選完成與關鍵字搜尋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空狀態引導畫面，降低新使用者的上手門檻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設定頁顯示使用者資訊與 App 版本資訊</a:t>
            </a:r>
            <a:endParaRPr lang="en-US" sz="1400" dirty="0"/>
          </a:p>
        </p:txBody>
      </p:sp>
      <p:pic>
        <p:nvPicPr>
          <p:cNvPr id="16" name="Image 0" descr="/root/deck/img/TaskView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960120"/>
            <a:ext cx="2631157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功能一：帳號驗證流程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・ LOG IN ・ ERROR HANDLING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6656" y="1938528"/>
            <a:ext cx="137160" cy="137160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" y="1828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註冊與登入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2194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以姓名、Email 與密碼建立帳號，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登入後進入個人的任務清單。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6656" y="3355848"/>
            <a:ext cx="137160" cy="137160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32461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輸入欄位設計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欄位搭配圖示提示輸入內容，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密碼以遮罩顯示避免旁人窺看。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6656" y="4773168"/>
            <a:ext cx="137160" cy="137160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46634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錯誤處理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5029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帳密錯誤時以 Alert 明確回饋原因，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而非讓畫面停在無回應狀態。</a:t>
            </a:r>
            <a:endParaRPr lang="en-US" sz="1250" dirty="0"/>
          </a:p>
        </p:txBody>
      </p:sp>
      <p:pic>
        <p:nvPicPr>
          <p:cNvPr id="13" name="Image 0" descr="/root/deck/img/Sign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6898" y="1572768"/>
            <a:ext cx="2136410" cy="43434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666898" y="6053328"/>
            <a:ext cx="2136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註冊</a:t>
            </a:r>
            <a:endParaRPr lang="en-US" sz="1250" dirty="0"/>
          </a:p>
        </p:txBody>
      </p:sp>
      <p:pic>
        <p:nvPicPr>
          <p:cNvPr id="15" name="Image 1" descr="/root/deck/img/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627" y="1572768"/>
            <a:ext cx="2136410" cy="43434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77627" y="6053328"/>
            <a:ext cx="2136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</a:t>
            </a:r>
            <a:endParaRPr lang="en-US" sz="1250" dirty="0"/>
          </a:p>
        </p:txBody>
      </p:sp>
      <p:pic>
        <p:nvPicPr>
          <p:cNvPr id="17" name="Image 2" descr="/root/deck/img/LoginErr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357" y="1572768"/>
            <a:ext cx="2136410" cy="43434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488357" y="6053328"/>
            <a:ext cx="2136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錯誤提示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功能二：任務清單與分類管理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LIST ・ CATEGORY ・ SEARCH</a:t>
            </a:r>
            <a:endParaRPr lang="en-US" sz="1300" dirty="0"/>
          </a:p>
        </p:txBody>
      </p:sp>
      <p:pic>
        <p:nvPicPr>
          <p:cNvPr id="4" name="Image 0" descr="/root/deck/img/AddT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2496226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80560" y="1572768"/>
            <a:ext cx="7059168" cy="1005840"/>
          </a:xfrm>
          <a:prstGeom prst="roundRect">
            <a:avLst>
              <a:gd name="adj" fmla="val 10909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0" y="1874520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5488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321808" y="17373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分類切換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321808" y="206654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Groceries / Home / Personal / Work 四類整理任務，點選即時切換。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2743200"/>
            <a:ext cx="7059168" cy="1005840"/>
          </a:xfrm>
          <a:prstGeom prst="roundRect">
            <a:avLst>
              <a:gd name="adj" fmla="val 10909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3044952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21808" y="290779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新增任務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321808" y="323697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浮動按鈕開啟新增區塊，可同時建立清單標題與底下的多筆待辦項目。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480560" y="3913632"/>
            <a:ext cx="7059168" cy="1005840"/>
          </a:xfrm>
          <a:prstGeom prst="roundRect">
            <a:avLst>
              <a:gd name="adj" fmla="val 10909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4215384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321808" y="407822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完成與搜尋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321808" y="44074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勾選方塊標記完成狀態，上方搜尋列可直接以關鍵字過濾任務。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480560" y="5084064"/>
            <a:ext cx="7059168" cy="1005840"/>
          </a:xfrm>
          <a:prstGeom prst="roundRect">
            <a:avLst>
              <a:gd name="adj" fmla="val 10909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54880" y="5385816"/>
            <a:ext cx="402336" cy="402336"/>
          </a:xfrm>
          <a:prstGeom prst="ellipse">
            <a:avLst/>
          </a:prstGeom>
          <a:solidFill>
            <a:srgbClr val="2AA7AA">
              <a:alpha val="22000"/>
            </a:srgbClr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54880" y="5385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321808" y="524865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空狀態設計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321808" y="55778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清單為空時顯示插圖與引導文案，讓使用者知道下一步該做什麼。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功能三：設定與帳號資訊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・ USER INFO ・ SIGN OUT</a:t>
            </a:r>
            <a:endParaRPr lang="en-US" sz="1300" dirty="0"/>
          </a:p>
        </p:txBody>
      </p:sp>
      <p:pic>
        <p:nvPicPr>
          <p:cNvPr id="4" name="Image 0" descr="/root/deck/img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2248853" cy="4572000"/>
          </a:xfrm>
          <a:prstGeom prst="rect">
            <a:avLst/>
          </a:prstGeom>
        </p:spPr>
      </p:pic>
      <p:pic>
        <p:nvPicPr>
          <p:cNvPr id="5" name="Image 1" descr="/root/deck/img/Sign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573" y="1600200"/>
            <a:ext cx="2248853" cy="4572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6291072"/>
            <a:ext cx="22488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設定頁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3437573" y="6291072"/>
            <a:ext cx="22488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登出確認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6437376" y="17373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介紹區塊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37376" y="2103120"/>
            <a:ext cx="5138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 App 的定位與用途，讓使用者理解產品價值。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080760" y="1847088"/>
            <a:ext cx="137160" cy="137160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37376" y="29077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使用者資訊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37376" y="3273552"/>
            <a:ext cx="5138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顯示登入帳號的姓名與 Email，資料由登入狀態帶入。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80760" y="3017520"/>
            <a:ext cx="137160" cy="137160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37376" y="40782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資訊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37376" y="4443984"/>
            <a:ext cx="5138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 1.0、相容 iOS 18.6+、開發者資訊一併揭露。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80760" y="4187952"/>
            <a:ext cx="137160" cy="137160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37376" y="52486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登出保護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437376" y="5614416"/>
            <a:ext cx="5138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登出前跳出確認對話框，避免誤觸造成資料中斷。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080760" y="5358384"/>
            <a:ext cx="137160" cy="137160"/>
          </a:xfrm>
          <a:prstGeom prst="ellipse">
            <a:avLst/>
          </a:prstGeom>
          <a:solidFill>
            <a:srgbClr val="2AA7AA"/>
          </a:solidFill>
          <a:ln w="12700">
            <a:solidFill>
              <a:srgbClr val="2AA7A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技術實作重點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・ IMPLEMENTATION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847088"/>
            <a:ext cx="3218688" cy="1417320"/>
          </a:xfrm>
          <a:prstGeom prst="roundRect">
            <a:avLst>
              <a:gd name="adj" fmla="val 7742"/>
            </a:avLst>
          </a:prstGeom>
          <a:solidFill>
            <a:srgbClr val="1E272E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66544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871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 畫面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只負責呈現與事件傳遞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2427732"/>
            <a:ext cx="310896" cy="256032"/>
          </a:xfrm>
          <a:prstGeom prst="rightArrow">
            <a:avLst/>
          </a:prstGeom>
          <a:solidFill>
            <a:srgbClr val="2AA7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847088"/>
            <a:ext cx="3218688" cy="1417320"/>
          </a:xfrm>
          <a:prstGeom prst="roundRect">
            <a:avLst>
              <a:gd name="adj" fmla="val 7742"/>
            </a:avLst>
          </a:prstGeom>
          <a:solidFill>
            <a:srgbClr val="1E272E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6592" y="2066544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A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4871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狀態管理與商業邏輯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@Published 驅動畫面更新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45552" y="2427732"/>
            <a:ext cx="310896" cy="256032"/>
          </a:xfrm>
          <a:prstGeom prst="rightArrow">
            <a:avLst/>
          </a:prstGeom>
          <a:solidFill>
            <a:srgbClr val="2AA7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2752" y="1847088"/>
            <a:ext cx="3218688" cy="1417320"/>
          </a:xfrm>
          <a:prstGeom prst="roundRect">
            <a:avLst>
              <a:gd name="adj" fmla="val 7742"/>
            </a:avLst>
          </a:prstGeom>
          <a:solidFill>
            <a:srgbClr val="1E272E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58784" y="2066544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 Service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58784" y="24871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資料模型與 API 串接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 非同步請求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3410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畫面與邏輯分離，任一層可獨立調整或替換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913632"/>
            <a:ext cx="5239512" cy="1152144"/>
          </a:xfrm>
          <a:prstGeom prst="roundRect">
            <a:avLst>
              <a:gd name="adj" fmla="val 952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059936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非同步處理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389120"/>
            <a:ext cx="4745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async / await 與 Combine 處理資料請求與狀態更新，避免阻塞主執行緒造成畫面卡頓。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3913632"/>
            <a:ext cx="5239512" cy="1152144"/>
          </a:xfrm>
          <a:prstGeom prst="roundRect">
            <a:avLst>
              <a:gd name="adj" fmla="val 952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47104" y="4059936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錯誤與空狀態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547104" y="4389120"/>
            <a:ext cx="4745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登入失敗、清單為空皆有對應畫面與文案，讓使用者在任何情況下都知道發生什麼事。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5285232"/>
            <a:ext cx="5239512" cy="1152144"/>
          </a:xfrm>
          <a:prstGeom prst="roundRect">
            <a:avLst>
              <a:gd name="adj" fmla="val 952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431536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深色模式介面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760720"/>
            <a:ext cx="4745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整體採用深色配色，並統一主色與元件圓角，維持一致的視覺語彙。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91072" y="5285232"/>
            <a:ext cx="5239512" cy="1152144"/>
          </a:xfrm>
          <a:prstGeom prst="roundRect">
            <a:avLst>
              <a:gd name="adj" fmla="val 9524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47104" y="5431536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版本控制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5760720"/>
            <a:ext cx="4745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Git 分支管理開發進度，功能完成後合併，保留可追溯的提交紀錄。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108960"/>
            <a:ext cx="5852160" cy="5852160"/>
          </a:xfrm>
          <a:prstGeom prst="ellipse">
            <a:avLst/>
          </a:prstGeom>
          <a:solidFill>
            <a:srgbClr val="2AA7AA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2011680"/>
            <a:ext cx="5120640" cy="5120640"/>
          </a:xfrm>
          <a:prstGeom prst="ellipse">
            <a:avLst/>
          </a:prstGeom>
          <a:solidFill>
            <a:srgbClr val="4FD1C5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為什麼是我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59536" y="1901952"/>
            <a:ext cx="137160" cy="1371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0432" y="17830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研究訓練帶來的解題能力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148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博士期間養成拆解問題、驗證假設、記錄結果的習慣，面對不熟悉的技術能快速上手。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9536" y="2962656"/>
            <a:ext cx="137160" cy="1371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70432" y="284378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完整走過一支 App 的生命週期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32095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從介面設計、架構規劃、API 串接到上架流程，具備獨立完成產品的實作經驗。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" y="4023360"/>
            <a:ext cx="137160" cy="1371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70432" y="3904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把細節做完整的習慣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42702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錯誤提示、空狀態、登出確認這些容易被忽略的環節，都是我在專案中主動補齊的部分。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956048"/>
            <a:ext cx="10561320" cy="1572768"/>
          </a:xfrm>
          <a:prstGeom prst="roundRect">
            <a:avLst>
              <a:gd name="adj" fmla="val 6977"/>
            </a:avLst>
          </a:prstGeom>
          <a:solidFill>
            <a:srgbClr val="151C22"/>
          </a:solidFill>
          <a:ln w="9525">
            <a:solidFill>
              <a:srgbClr val="232E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33856" y="5321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感謝聆聽　期待有機會加入團隊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572414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希望工作地點：台北 ・ 新北 ・ 桃園 ・ 新竹 ・ 台中 ・ 高雄（可遠端）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5157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0986-513-967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5449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4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luoguofeng0401@gmail.com</a:t>
            </a:r>
            <a:endParaRPr lang="en-US" sz="1250" dirty="0"/>
          </a:p>
        </p:txBody>
      </p:sp>
      <p:sp>
        <p:nvSpPr>
          <p:cNvPr id="19" name="Text 17">
            <a:hlinkClick r:id="rId1" tooltip=""/>
          </p:cNvPr>
          <p:cNvSpPr txBox="1"/>
          <p:nvPr/>
        </p:nvSpPr>
        <p:spPr>
          <a:xfrm>
            <a:off x="6949440" y="5742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u="sng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github.com/luoguofeng0401</a:t>
            </a:r>
            <a:endParaRPr lang="en-US" sz="1250" dirty="0"/>
          </a:p>
        </p:txBody>
      </p:sp>
      <p:sp>
        <p:nvSpPr>
          <p:cNvPr id="20" name="Text 18">
            <a:hlinkClick r:id="rId2" tooltip=""/>
          </p:cNvPr>
          <p:cNvSpPr txBox="1"/>
          <p:nvPr/>
        </p:nvSpPr>
        <p:spPr>
          <a:xfrm>
            <a:off x="6949440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u="sng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medium.com/@luoguofeng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羅國峰 — iOS Developer 應徵簡報</dc:title>
  <dc:subject>PptxGenJS Presentation</dc:subject>
  <dc:creator>Guofeng Luo</dc:creator>
  <cp:lastModifiedBy>Guofeng Luo</cp:lastModifiedBy>
  <cp:revision>1</cp:revision>
  <dcterms:created xsi:type="dcterms:W3CDTF">2026-09-01T04:12:24Z</dcterms:created>
  <dcterms:modified xsi:type="dcterms:W3CDTF">2026-09-01T04:12:24Z</dcterms:modified>
</cp:coreProperties>
</file>